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</p:sldIdLst>
  <p:sldSz cx="12192000" cy="6858000"/>
  <p:notesSz cx="7772400" cy="100584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Click to edit the notes format</a:t>
            </a:r>
          </a:p>
        </p:txBody>
      </p:sp>
      <p:sp>
        <p:nvSpPr>
          <p:cNvPr id="14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KR"/>
              </a:rPr>
              <a:t>&lt;header&gt;</a:t>
            </a:r>
          </a:p>
        </p:txBody>
      </p:sp>
      <p:sp>
        <p:nvSpPr>
          <p:cNvPr id="150" name="PlaceHolder 4"/>
          <p:cNvSpPr>
            <a:spLocks noGrp="1"/>
          </p:cNvSpPr>
          <p:nvPr>
            <p:ph type="dt" idx="3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KR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KR"/>
              </a:rPr>
              <a:t>&lt;date/time&gt;</a:t>
            </a:r>
          </a:p>
        </p:txBody>
      </p:sp>
      <p:sp>
        <p:nvSpPr>
          <p:cNvPr id="151" name="PlaceHolder 5"/>
          <p:cNvSpPr>
            <a:spLocks noGrp="1"/>
          </p:cNvSpPr>
          <p:nvPr>
            <p:ph type="ftr" idx="3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KR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KR"/>
              </a:rPr>
              <a:t>&lt;footer&gt;</a:t>
            </a:r>
          </a:p>
        </p:txBody>
      </p:sp>
      <p:sp>
        <p:nvSpPr>
          <p:cNvPr id="152" name="PlaceHolder 6"/>
          <p:cNvSpPr>
            <a:spLocks noGrp="1"/>
          </p:cNvSpPr>
          <p:nvPr>
            <p:ph type="sldNum" idx="3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KR"/>
              </a:defRPr>
            </a:lvl1pPr>
          </a:lstStyle>
          <a:p>
            <a:pPr indent="0" algn="r">
              <a:buNone/>
            </a:pPr>
            <a:fld id="{2A9FD8E2-D7F6-48C1-9CC4-7AD143AEBFE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KR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Mencionar que las fuentes de los datos fueron: Hospitales, estudios de universidades, Noticias con estadísticas por años. Y se utilizaron encuestas, hojas de calculo, graficos,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941168-5FC6-4662-8005-5C9AAF848ED5}" type="slidenum">
              <a: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Mencionar que las fuentes de los datos fueron: Hospitales, estudios de universidades, Noticias con estadísticas por años. Y se utilizaron encuestas, hojas de calculo, graficos,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5FDEF0-CE11-4AE4-A64E-E59F37F86B84}" type="slidenum">
              <a: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Como conclusiones: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El no lavado de manos fue una modalidad de contagio mas baja que por el no uso de mascarilla.</a:t>
            </a:r>
            <a:br>
              <a:rPr sz="2000"/>
            </a:b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Se muestra que las personas que tuvieron contacto físico con otra por medio de saludo, presentaba una tasa alta de contagio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B13C5E-52F6-4399-8A5D-FD60911054AE}" type="slidenum">
              <a: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Como Observación: la semana del 22 del 2022 fue cuando se dio el ciberataque a la CCSS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C03F2E-FF4E-4D02-BAD8-2253802FCB19}" type="slidenum">
              <a: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Como Observación: la semana del 22 del 2022 fue cuando se dio el ciberataque a la CCSS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0A3B89-C371-421A-ACE1-77890071C2AB}" type="slidenum">
              <a: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Como Observación: la semana del 22 del 2022 fue cuando se dio el ciberataque a la CCSS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0A3E16-E4EE-405E-AFE8-2EC69C1EC01C}" type="slidenum">
              <a: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Como Observación: la semana del 22 del 2022 fue cuando se dio el ciberataque a la CCSS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47"/>
          </p:nvPr>
        </p:nvSpPr>
        <p:spPr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2EA866-E602-44BB-A2AC-A843CA35C516}" type="slidenum">
              <a:rPr lang="es-CR" sz="1200" b="0" u="none" strike="noStrike">
                <a:solidFill>
                  <a:srgbClr val="000000"/>
                </a:solidFill>
                <a:effectLst/>
                <a:uFillTx/>
                <a:latin typeface="Noto Serif CJK KR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5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1007640" y="0"/>
            <a:ext cx="793404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89420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611800" y="3429000"/>
            <a:ext cx="5517720" cy="226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indent="0" algn="r" defTabSz="914400">
              <a:lnSpc>
                <a:spcPct val="90000"/>
              </a:lnSpc>
              <a:buNone/>
              <a:defRPr lang="es-ES" sz="6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s-ES" sz="6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el estilo de título del patrón</a:t>
            </a:r>
            <a:endParaRPr lang="en-US" sz="6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2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3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7D24E4-A132-470D-A5C4-C41C0C729C55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2191320" y="3262680"/>
            <a:ext cx="415440" cy="46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chemeClr val="accent6"/>
                </a:solidFill>
                <a:effectLst/>
                <a:uFillTx/>
                <a:latin typeface="Wingdings 3"/>
              </a:rPr>
              <a:t>z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6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" name="Rectangle 13"/>
          <p:cNvSpPr/>
          <p:nvPr/>
        </p:nvSpPr>
        <p:spPr>
          <a:xfrm>
            <a:off x="1004400" y="0"/>
            <a:ext cx="1037196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8" name="Rectangle 14"/>
          <p:cNvSpPr/>
          <p:nvPr/>
        </p:nvSpPr>
        <p:spPr>
          <a:xfrm>
            <a:off x="113774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" name="TextBox 8"/>
          <p:cNvSpPr/>
          <p:nvPr/>
        </p:nvSpPr>
        <p:spPr>
          <a:xfrm>
            <a:off x="2194200" y="641160"/>
            <a:ext cx="415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6"/>
                </a:solidFill>
                <a:effectLst/>
                <a:uFillTx/>
                <a:latin typeface="Wingdings 3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611800" y="808200"/>
            <a:ext cx="795384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el estilo de título del patrón</a:t>
            </a: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773440" y="2052000"/>
            <a:ext cx="7796160" cy="39974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5pPr>
          </a:lstStyle>
          <a:p>
            <a:pPr marL="344520" indent="-34452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95240" lvl="1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Segundo nivel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58920" lvl="2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Tercer nivel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09640" lvl="3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Cuarto nivel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73320" lvl="4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Quinto nivel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4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5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6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5C1B4D-0466-419F-B2C4-0FD501061708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28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9" name="Rectangle 14"/>
          <p:cNvSpPr/>
          <p:nvPr/>
        </p:nvSpPr>
        <p:spPr>
          <a:xfrm>
            <a:off x="1004400" y="0"/>
            <a:ext cx="1037196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30" name="Rectangle 15"/>
          <p:cNvSpPr/>
          <p:nvPr/>
        </p:nvSpPr>
        <p:spPr>
          <a:xfrm>
            <a:off x="113774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31" name="TextBox 8"/>
          <p:cNvSpPr/>
          <p:nvPr/>
        </p:nvSpPr>
        <p:spPr>
          <a:xfrm rot="5400000">
            <a:off x="10337400" y="415800"/>
            <a:ext cx="415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6"/>
                </a:solidFill>
                <a:effectLst/>
                <a:uFillTx/>
                <a:latin typeface="Wingdings 3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239400" y="805680"/>
            <a:ext cx="1326240" cy="5243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el estilo de título del patrón</a:t>
            </a: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2608920" y="970560"/>
            <a:ext cx="6466680" cy="50792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5pPr>
          </a:lstStyle>
          <a:p>
            <a:pPr marL="344520" indent="-34452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95240" lvl="1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Segundo nivel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58920" lvl="2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Tercer nivel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09640" lvl="3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Cuarto nivel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73320" lvl="4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Quinto nivel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7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8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9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74DC3A-64C1-450F-BE9F-17F9F5DC599D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40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1" name="Rectangle 28"/>
          <p:cNvSpPr/>
          <p:nvPr/>
        </p:nvSpPr>
        <p:spPr>
          <a:xfrm>
            <a:off x="1004400" y="0"/>
            <a:ext cx="1037196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42" name="Rectangle 8"/>
          <p:cNvSpPr/>
          <p:nvPr/>
        </p:nvSpPr>
        <p:spPr>
          <a:xfrm>
            <a:off x="113774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611800" y="80820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el estilo de título del patrón</a:t>
            </a: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2773440" y="2052000"/>
            <a:ext cx="779616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5pPr>
          </a:lstStyle>
          <a:p>
            <a:pPr marL="344520" indent="-34452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95240" lvl="1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Segundo nivel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58920" lvl="2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Tercer nivel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09640" lvl="3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Cuarto nivel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73320" lvl="4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Quinto nivel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0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11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5C1038-7F3A-4A0C-85B7-40BDB105B560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48" name="TextBox 6"/>
          <p:cNvSpPr/>
          <p:nvPr/>
        </p:nvSpPr>
        <p:spPr>
          <a:xfrm>
            <a:off x="2194920" y="641160"/>
            <a:ext cx="415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6"/>
                </a:solidFill>
                <a:effectLst/>
                <a:uFillTx/>
                <a:latin typeface="Wingdings 3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cabezado de secció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52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3" name="Rectangle 23"/>
          <p:cNvSpPr/>
          <p:nvPr/>
        </p:nvSpPr>
        <p:spPr>
          <a:xfrm>
            <a:off x="1004400" y="0"/>
            <a:ext cx="1037196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54" name="Rectangle 24"/>
          <p:cNvSpPr/>
          <p:nvPr/>
        </p:nvSpPr>
        <p:spPr>
          <a:xfrm>
            <a:off x="113774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2191680" y="2962440"/>
            <a:ext cx="415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6"/>
                </a:solidFill>
                <a:effectLst/>
                <a:uFillTx/>
                <a:latin typeface="Wingdings 3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610000" y="3147120"/>
            <a:ext cx="7956360" cy="142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r" defTabSz="914400">
              <a:lnSpc>
                <a:spcPct val="90000"/>
              </a:lnSpc>
              <a:buNone/>
              <a:defRPr lang="es-ES" sz="3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s-ES" sz="3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el estilo de título del patrón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2773800" y="2268720"/>
            <a:ext cx="7791480" cy="8780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anchor="b">
            <a:normAutofit/>
          </a:bodyPr>
          <a:lstStyle>
            <a:lvl1pPr indent="0" algn="r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  <a:def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13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14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5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E250A4-31E7-4260-A260-D0EB99D11597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64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5" name="Rectangle 25"/>
          <p:cNvSpPr/>
          <p:nvPr/>
        </p:nvSpPr>
        <p:spPr>
          <a:xfrm>
            <a:off x="1004400" y="0"/>
            <a:ext cx="1037196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66" name="Rectangle 26"/>
          <p:cNvSpPr/>
          <p:nvPr/>
        </p:nvSpPr>
        <p:spPr>
          <a:xfrm>
            <a:off x="113774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610000" y="805680"/>
            <a:ext cx="7950600" cy="108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el estilo de título del patrón</a:t>
            </a: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2605320" y="2052000"/>
            <a:ext cx="389160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5pPr>
          </a:lstStyle>
          <a:p>
            <a:pPr marL="344520" indent="-34452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95240" lvl="1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Segundo nivel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58920" lvl="2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Tercer nivel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09640" lvl="3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Cuarto nivel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73320" lvl="4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Quinto nivel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666480" y="2052000"/>
            <a:ext cx="389376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5pPr>
          </a:lstStyle>
          <a:p>
            <a:pPr marL="344520" indent="-34452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95240" lvl="1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Segundo nivel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58920" lvl="2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Tercer nivel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09640" lvl="3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Cuarto nivel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73320" lvl="4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Quinto nivel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16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17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18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27F5BF-467E-44C6-9530-71FF00D8CE0D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2196000" y="641160"/>
            <a:ext cx="415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6"/>
                </a:solidFill>
                <a:effectLst/>
                <a:uFillTx/>
                <a:latin typeface="Wingdings 3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ció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77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8" name="Rectangle 19"/>
          <p:cNvSpPr/>
          <p:nvPr/>
        </p:nvSpPr>
        <p:spPr>
          <a:xfrm>
            <a:off x="1004400" y="0"/>
            <a:ext cx="1037196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79" name="Rectangle 20"/>
          <p:cNvSpPr/>
          <p:nvPr/>
        </p:nvSpPr>
        <p:spPr>
          <a:xfrm>
            <a:off x="113774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2193480" y="636480"/>
            <a:ext cx="415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6"/>
                </a:solidFill>
                <a:effectLst/>
                <a:uFillTx/>
                <a:latin typeface="Wingdings 3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610000" y="805680"/>
            <a:ext cx="7956360" cy="107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el estilo de título del patrón</a:t>
            </a: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2609280" y="2052000"/>
            <a:ext cx="3896280" cy="71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  <a:defRPr lang="es-ES" sz="2200" b="0" u="none" strike="noStrike">
                <a:solidFill>
                  <a:schemeClr val="accent6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200" b="0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2609280" y="2851200"/>
            <a:ext cx="3893400" cy="307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  <a:def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  <a:def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  <a:def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5pPr>
          </a:lstStyle>
          <a:p>
            <a:pPr marL="344520" indent="-34452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95240" lvl="1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Segundo nivel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58920" lvl="2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Tercer nivel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09640" lvl="3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Cuarto nivel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73320" lvl="4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Quinto nivel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666480" y="2052000"/>
            <a:ext cx="3899520" cy="71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  <a:defRPr lang="es-ES" sz="2200" b="0" u="none" strike="noStrike">
                <a:solidFill>
                  <a:schemeClr val="accent6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200" b="0" u="none" strike="noStrike">
                <a:solidFill>
                  <a:schemeClr val="accent6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6666480" y="2851200"/>
            <a:ext cx="3899520" cy="307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  <a:def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  <a:def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  <a:def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5pPr>
          </a:lstStyle>
          <a:p>
            <a:pPr marL="344520" indent="-34452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95240" lvl="1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Segundo nivel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58920" lvl="2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Tercer nivel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09640" lvl="3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Cuarto nivel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73320" lvl="4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Quinto nivel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dt" idx="19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ftr" idx="20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88" name="PlaceHolder 8"/>
          <p:cNvSpPr>
            <a:spLocks noGrp="1"/>
          </p:cNvSpPr>
          <p:nvPr>
            <p:ph type="sldNum" idx="21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6F37FB-332D-4C01-8EDD-20A1E3B66895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92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3" name="Rectangle 12"/>
          <p:cNvSpPr/>
          <p:nvPr/>
        </p:nvSpPr>
        <p:spPr>
          <a:xfrm>
            <a:off x="1004400" y="0"/>
            <a:ext cx="1037196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94" name="Rectangle 13"/>
          <p:cNvSpPr/>
          <p:nvPr/>
        </p:nvSpPr>
        <p:spPr>
          <a:xfrm>
            <a:off x="113774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611800" y="80820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el estilo de título del patrón</a:t>
            </a: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22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ftr" idx="23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sldNum" idx="24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426408-B59C-462B-BD5B-5D7448E34E85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2196000" y="641160"/>
            <a:ext cx="415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6"/>
                </a:solidFill>
                <a:effectLst/>
                <a:uFillTx/>
                <a:latin typeface="Wingdings 3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03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4" name="Rectangle 11"/>
          <p:cNvSpPr/>
          <p:nvPr/>
        </p:nvSpPr>
        <p:spPr>
          <a:xfrm>
            <a:off x="1004400" y="0"/>
            <a:ext cx="1037196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05" name="Rectangle 12"/>
          <p:cNvSpPr/>
          <p:nvPr/>
        </p:nvSpPr>
        <p:spPr>
          <a:xfrm>
            <a:off x="113774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dt" idx="25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ftr" idx="26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27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18151A-3317-4AFD-9BB1-EEA336F56505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ido con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12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3" name="Rectangle 24"/>
          <p:cNvSpPr/>
          <p:nvPr/>
        </p:nvSpPr>
        <p:spPr>
          <a:xfrm>
            <a:off x="1004400" y="0"/>
            <a:ext cx="1037196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14" name="Rectangle 25"/>
          <p:cNvSpPr/>
          <p:nvPr/>
        </p:nvSpPr>
        <p:spPr>
          <a:xfrm>
            <a:off x="113774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1554120" y="1127520"/>
            <a:ext cx="415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6"/>
                </a:solidFill>
                <a:effectLst/>
                <a:uFillTx/>
                <a:latin typeface="Wingdings 3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970280" y="1282320"/>
            <a:ext cx="2664000" cy="190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s-ES" sz="2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ES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el estilo de título del patrón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120280" y="805680"/>
            <a:ext cx="5446080" cy="524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5pPr>
          </a:lstStyle>
          <a:p>
            <a:pPr marL="344520" indent="-34452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95240" lvl="1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Segundo nivel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58920" lvl="2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Tercer nivel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09640" lvl="3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Cuarto nivel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73320" lvl="4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Quinto nivel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1970280" y="3186000"/>
            <a:ext cx="2664000" cy="238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dt" idx="28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ftr" idx="29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sldNum" idx="30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5370CD-B2E9-4C97-A42D-F725A0C41DC3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con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25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6" name="Rectangle 18"/>
          <p:cNvSpPr/>
          <p:nvPr/>
        </p:nvSpPr>
        <p:spPr>
          <a:xfrm>
            <a:off x="1004400" y="0"/>
            <a:ext cx="1037196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27" name="Rectangle 19"/>
          <p:cNvSpPr/>
          <p:nvPr/>
        </p:nvSpPr>
        <p:spPr>
          <a:xfrm>
            <a:off x="113774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body"/>
          </p:nvPr>
        </p:nvSpPr>
        <p:spPr>
          <a:xfrm>
            <a:off x="6747120" y="3240"/>
            <a:ext cx="4629240" cy="6857640"/>
          </a:xfrm>
          <a:prstGeom prst="rect">
            <a:avLst/>
          </a:prstGeom>
          <a:solidFill>
            <a:schemeClr val="lt1">
              <a:alpha val="10000"/>
            </a:schemeClr>
          </a:solidFill>
          <a:ln w="936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s-ES" sz="2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en el icono para agregar una imagen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1554840" y="1127520"/>
            <a:ext cx="415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6"/>
                </a:solidFill>
                <a:effectLst/>
                <a:uFillTx/>
                <a:latin typeface="Wingdings 3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title"/>
          </p:nvPr>
        </p:nvSpPr>
        <p:spPr>
          <a:xfrm>
            <a:off x="1971360" y="1282320"/>
            <a:ext cx="3970800" cy="190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s-ES" sz="3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ES" sz="3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el estilo de título del patrón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1970280" y="3182760"/>
            <a:ext cx="3971520" cy="238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  <a:def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dt" idx="31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ftr" idx="32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 type="sldNum" idx="33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51FCBD-9B08-4ACE-BEC9-B56C0E036716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7"/>
          <p:cNvPicPr/>
          <p:nvPr/>
        </p:nvPicPr>
        <p:blipFill>
          <a:blip r:embed="rId3"/>
          <a:stretch/>
        </p:blipFill>
        <p:spPr>
          <a:xfrm>
            <a:off x="2831760" y="2105280"/>
            <a:ext cx="936000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Picture 14"/>
          <p:cNvPicPr/>
          <p:nvPr/>
        </p:nvPicPr>
        <p:blipFill>
          <a:blip r:embed="rId4"/>
          <a:stretch/>
        </p:blipFill>
        <p:spPr>
          <a:xfrm>
            <a:off x="0" y="0"/>
            <a:ext cx="12189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ectangle 7"/>
          <p:cNvSpPr/>
          <p:nvPr/>
        </p:nvSpPr>
        <p:spPr>
          <a:xfrm>
            <a:off x="0" y="0"/>
            <a:ext cx="9637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38" name="Rectangle 56"/>
          <p:cNvSpPr/>
          <p:nvPr/>
        </p:nvSpPr>
        <p:spPr>
          <a:xfrm>
            <a:off x="961920" y="0"/>
            <a:ext cx="4536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9" name="Rectangle 28"/>
          <p:cNvSpPr/>
          <p:nvPr/>
        </p:nvSpPr>
        <p:spPr>
          <a:xfrm>
            <a:off x="1004400" y="0"/>
            <a:ext cx="10371960" cy="6857640"/>
          </a:xfrm>
          <a:prstGeom prst="rect">
            <a:avLst/>
          </a:prstGeom>
          <a:solidFill>
            <a:schemeClr val="dk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imbus Sans"/>
            </a:endParaRPr>
          </a:p>
        </p:txBody>
      </p:sp>
      <p:sp>
        <p:nvSpPr>
          <p:cNvPr id="140" name="Rectangle 8"/>
          <p:cNvSpPr/>
          <p:nvPr/>
        </p:nvSpPr>
        <p:spPr>
          <a:xfrm>
            <a:off x="11377440" y="0"/>
            <a:ext cx="2700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611800" y="80820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el estilo de título del patrón</a:t>
            </a: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2773440" y="2052000"/>
            <a:ext cx="779616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5pPr>
          </a:lstStyle>
          <a:p>
            <a:pPr marL="344520" indent="-34452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Haga clic para modificar los estilos de texto del patrón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95240" lvl="1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Segundo nivel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58920" lvl="2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Tercer nivel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09640" lvl="3" indent="-33804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Cuarto nivel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73320" lvl="4" indent="-344520" algn="l" defTabSz="914400">
              <a:lnSpc>
                <a:spcPct val="120000"/>
              </a:lnSpc>
              <a:spcBef>
                <a:spcPts val="499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Quinto nivel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34"/>
          </p:nvPr>
        </p:nvSpPr>
        <p:spPr>
          <a:xfrm rot="5400000">
            <a:off x="-809640" y="5270400"/>
            <a:ext cx="2662200" cy="182520"/>
          </a:xfrm>
          <a:prstGeom prst="rect">
            <a:avLst/>
          </a:prstGeom>
          <a:noFill/>
          <a:ln w="0">
            <a:noFill/>
          </a:ln>
        </p:spPr>
        <p:txBody>
          <a:bodyPr lIns="91440" tIns="18360" rIns="9144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ftr" idx="35"/>
          </p:nvPr>
        </p:nvSpPr>
        <p:spPr>
          <a:xfrm rot="5400000">
            <a:off x="-2236680" y="3661200"/>
            <a:ext cx="5884920" cy="17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18360" anchor="b">
            <a:noAutofit/>
          </a:bodyPr>
          <a:lstStyle>
            <a:lvl1pPr indent="0" algn="ctr">
              <a:buNone/>
              <a:def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&lt;footer&gt;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sldNum" idx="36"/>
          </p:nvPr>
        </p:nvSpPr>
        <p:spPr>
          <a:xfrm>
            <a:off x="158400" y="164520"/>
            <a:ext cx="636480" cy="32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3B6D0B-5713-4130-B19A-612D88F5719B}" type="slidenum">
              <a:rPr lang="en-US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‹Nº›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CJK KR"/>
            </a:endParaRPr>
          </a:p>
        </p:txBody>
      </p:sp>
      <p:sp>
        <p:nvSpPr>
          <p:cNvPr id="146" name="TextBox 6"/>
          <p:cNvSpPr/>
          <p:nvPr/>
        </p:nvSpPr>
        <p:spPr>
          <a:xfrm>
            <a:off x="2194920" y="641160"/>
            <a:ext cx="415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accent6"/>
                </a:solidFill>
                <a:effectLst/>
                <a:uFillTx/>
                <a:latin typeface="Wingdings 3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cion.com/el-pais/salud/alta-demanda-global-de-insumos-por-nuevo/327UWUAPGRFDLBWZXOOZL6AGOA/story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2610000" y="2261160"/>
            <a:ext cx="7956360" cy="142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3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Desabastecimiento de mascarillas en comercios durante la pandemia de COVID-19</a:t>
            </a:r>
            <a:br>
              <a:rPr sz="3200"/>
            </a:br>
            <a:endParaRPr lang="en-US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2956680" y="4266360"/>
            <a:ext cx="7791480" cy="8780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anchor="b">
            <a:noAutofit/>
          </a:bodyPr>
          <a:lstStyle/>
          <a:p>
            <a:pPr indent="0" algn="r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Uso e incidencia en contagios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2611800" y="80820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en-U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Problema</a:t>
            </a: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2773440" y="1488960"/>
            <a:ext cx="7796160" cy="2397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344520" indent="-34452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Comercios experimentaron desabastecimiento de mascarillas:</a:t>
            </a:r>
          </a:p>
          <a:p>
            <a:pPr marL="344520" indent="-34452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Aumento repentino en la demanda.</a:t>
            </a:r>
          </a:p>
          <a:p>
            <a:pPr marL="344520" indent="-34452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Compras de pánico.</a:t>
            </a:r>
          </a:p>
          <a:p>
            <a:pPr marL="344520" indent="-34452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Acaparamiento </a:t>
            </a:r>
          </a:p>
        </p:txBody>
      </p:sp>
      <p:sp>
        <p:nvSpPr>
          <p:cNvPr id="157" name="Marcador de contenido 1"/>
          <p:cNvSpPr txBox="1"/>
          <p:nvPr/>
        </p:nvSpPr>
        <p:spPr>
          <a:xfrm>
            <a:off x="1371600" y="4800600"/>
            <a:ext cx="8915400" cy="1828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Ejemplo: OMS advierte interrupción de suministro mundial. Estiman se necesitan 89 millones de mascarrillas. CCSS racionaliza insumos y compra lo disponible en el mercado. </a:t>
            </a:r>
          </a:p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Fuente: </a:t>
            </a: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  <a:hlinkClick r:id="rId2"/>
              </a:rPr>
              <a:t>https://www.nacion.com/el-pais/salud/alta-demanda-global-de-insumos-por-nuevo/327UWUAPGRFDLBWZXOOZL6AGOA/story/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2611800" y="80820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en-U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Objetivo general</a:t>
            </a: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2719440" y="1143000"/>
            <a:ext cx="7796160" cy="22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344520" indent="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Analizar los factores que provocaron el desabastecimiento de mascarillas en comercios para proponer estrategias que permitan anticipar futuros incrementos de demanda y mejorar la gestión del inventario.</a:t>
            </a:r>
          </a:p>
        </p:txBody>
      </p:sp>
      <p:sp>
        <p:nvSpPr>
          <p:cNvPr id="160" name="Título 3"/>
          <p:cNvSpPr txBox="1"/>
          <p:nvPr/>
        </p:nvSpPr>
        <p:spPr>
          <a:xfrm>
            <a:off x="-2471400" y="342900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Objetivos específicos</a:t>
            </a:r>
          </a:p>
        </p:txBody>
      </p:sp>
      <p:sp>
        <p:nvSpPr>
          <p:cNvPr id="161" name="Título 4"/>
          <p:cNvSpPr txBox="1"/>
          <p:nvPr/>
        </p:nvSpPr>
        <p:spPr>
          <a:xfrm>
            <a:off x="2612160" y="80856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Objetivo general</a:t>
            </a:r>
          </a:p>
        </p:txBody>
      </p:sp>
      <p:sp>
        <p:nvSpPr>
          <p:cNvPr id="162" name="Marcador de contenido 3"/>
          <p:cNvSpPr txBox="1"/>
          <p:nvPr/>
        </p:nvSpPr>
        <p:spPr>
          <a:xfrm>
            <a:off x="1805040" y="4800600"/>
            <a:ext cx="893916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Identificar las causas principales del desabastecimiento.</a:t>
            </a:r>
          </a:p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Analizar el comportamiento de compra de los consumidores.</a:t>
            </a:r>
          </a:p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Evaluar cómo respondió la cadena de suministro.</a:t>
            </a:r>
          </a:p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Proponer un modelo de predicción de demanda para productos crítico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472400" y="69552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 recolectan los siguientes datos:</a:t>
            </a:r>
            <a:br>
              <a:rPr sz="3400"/>
            </a:br>
            <a:br>
              <a:rPr sz="3400"/>
            </a:b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1600200" y="2052000"/>
            <a:ext cx="896940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57200" indent="-45720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Cantidad de personas que usan mascarilla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Frecuencia de uso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Inventario disponible.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Tiempo de reposición.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Riesgo de contagio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Hombres, Mujeres, niños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Casos reportados por COVID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Medidas implementadas por comercios y gobiernos.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9F55F-2FA4-E05B-311B-7417B312F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57330D-2229-CBFC-B2AD-BDC00BD9C37C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E2967F2-CAAE-5C0B-0A05-2EA051BA5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293" y="359312"/>
            <a:ext cx="8915636" cy="61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92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72400" y="69552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en-US" sz="3400" b="0" u="none" strike="noStrike" dirty="0" err="1">
                <a:solidFill>
                  <a:schemeClr val="lt1"/>
                </a:solidFill>
                <a:effectLst/>
                <a:uFillTx/>
                <a:latin typeface="Arial"/>
              </a:rPr>
              <a:t>Analista</a:t>
            </a:r>
            <a:r>
              <a:rPr lang="en-US" sz="34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de </a:t>
            </a:r>
            <a:r>
              <a:rPr lang="en-US" dirty="0" err="1"/>
              <a:t>datos</a:t>
            </a:r>
            <a:endParaRPr lang="en-US" sz="34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1600200" y="2052000"/>
            <a:ext cx="896940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57200" indent="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20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Ayudan a los analistas de negocios a </a:t>
            </a:r>
            <a:r>
              <a:rPr lang="es-ES" sz="2000" dirty="0"/>
              <a:t>i</a:t>
            </a:r>
            <a:r>
              <a:rPr lang="es-ES" sz="20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dentificar el problema desde la perspectiva empresarial. Determinar cómo mejorar la gestión del inventario para evitar futuros desabastecimientos.</a:t>
            </a:r>
            <a:endParaRPr lang="en-US" sz="20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Junio2020: Ministerio de salud dicta uso </a:t>
            </a:r>
            <a:r>
              <a:rPr lang="es-ES" sz="2000" b="0" u="none" strike="noStrike" dirty="0" err="1">
                <a:solidFill>
                  <a:schemeClr val="lt1"/>
                </a:solidFill>
                <a:effectLst/>
                <a:uFillTx/>
                <a:latin typeface="Arial"/>
              </a:rPr>
              <a:t>obligario</a:t>
            </a:r>
            <a:r>
              <a:rPr lang="es-ES" sz="20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de mascarillas.</a:t>
            </a:r>
            <a:endParaRPr lang="en-US" sz="20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Inicios 2022: Se impulsa cambio de mascarilla de tela a KN95</a:t>
            </a:r>
            <a:endParaRPr lang="en-US" sz="20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Mayo 2022: Decreto elimina uso obligatorio de mascarillas.</a:t>
            </a:r>
            <a:endParaRPr lang="en-US" sz="20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En el Auge año 2020 ₡1.500 a ₡3.500 por unidad.₡500 a ₡1.000 año 2021 al 2022</a:t>
            </a:r>
            <a:endParaRPr lang="en-US" sz="20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-4572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Arial"/>
              <a:buAutoNum type="arabicPeriod"/>
            </a:pPr>
            <a:r>
              <a:rPr lang="es-ES" sz="20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₡2.000 a ₡3.000 por caja de 50 unidades (₡40 por unidad).</a:t>
            </a:r>
            <a:endParaRPr lang="en-US" sz="20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2611800" y="80820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en-U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Ejemplo</a:t>
            </a:r>
          </a:p>
        </p:txBody>
      </p:sp>
      <p:sp>
        <p:nvSpPr>
          <p:cNvPr id="168" name="Marcador de contenido 7"/>
          <p:cNvSpPr txBox="1"/>
          <p:nvPr/>
        </p:nvSpPr>
        <p:spPr>
          <a:xfrm>
            <a:off x="1600560" y="2052000"/>
            <a:ext cx="8969400" cy="3997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344520" indent="-344520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La Gerencia de Logística (CCSS), ya invirtió ¢67 millones para comprar en el mercado nacional batas tipo 3 (nivel de bioseguridad), mascarillas N95 y anteojos. Sin embargo, aún dispone de ¢45.000 millones para adquisiciones adicionales, si fuera necesario.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2611800" y="80820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Rol del Científico de Datos</a:t>
            </a:r>
            <a:br>
              <a:rPr sz="2200"/>
            </a:br>
            <a:endParaRPr lang="en-US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0" name="Marcador de contenido 8"/>
          <p:cNvSpPr txBox="1"/>
          <p:nvPr/>
        </p:nvSpPr>
        <p:spPr>
          <a:xfrm>
            <a:off x="1774800" y="2057400"/>
            <a:ext cx="8512200" cy="3429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Analiza la información para encontrar patrones y realizar predicciones.</a:t>
            </a:r>
            <a:endParaRPr lang="en-US" sz="20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Realizar modelo capaz de anticipar incrementos en la demanda de mascarillas para facilitar la planificación del inventario.</a:t>
            </a:r>
            <a:endParaRPr lang="en-US" sz="20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endParaRPr lang="en-US" sz="20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-876960" y="619920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Fuente: Universidad de Costa Rica</a:t>
            </a: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2773440" y="2052000"/>
            <a:ext cx="779616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</a:pP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73" name="Imagen 4"/>
          <p:cNvPicPr/>
          <p:nvPr/>
        </p:nvPicPr>
        <p:blipFill>
          <a:blip r:embed="rId3"/>
          <a:stretch/>
        </p:blipFill>
        <p:spPr>
          <a:xfrm>
            <a:off x="914400" y="294840"/>
            <a:ext cx="9844920" cy="5904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-2094120" y="588708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Fuente: aDiarioCR.com</a:t>
            </a: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2773440" y="2052000"/>
            <a:ext cx="779616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</a:pP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n 10"/>
          <p:cNvPicPr/>
          <p:nvPr/>
        </p:nvPicPr>
        <p:blipFill>
          <a:blip r:embed="rId3"/>
          <a:stretch/>
        </p:blipFill>
        <p:spPr>
          <a:xfrm>
            <a:off x="1159920" y="808200"/>
            <a:ext cx="9871560" cy="4702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106280" y="5943600"/>
            <a:ext cx="1283832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Fuente: SCIELO - COVID-19 en Costa Rica: análisis longitudinal de las tasas de</a:t>
            </a:r>
            <a:br>
              <a:rPr sz="2000"/>
            </a:b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contagio y de fallecimiento desde el enfoque de la desigualdad social</a:t>
            </a:r>
            <a:br>
              <a:rPr sz="3400"/>
            </a:br>
            <a:br>
              <a:rPr sz="3400"/>
            </a:b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2773440" y="2052000"/>
            <a:ext cx="779616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</a:pP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79" name="Imagen 178"/>
          <p:cNvPicPr/>
          <p:nvPr/>
        </p:nvPicPr>
        <p:blipFill>
          <a:blip r:embed="rId3"/>
          <a:stretch/>
        </p:blipFill>
        <p:spPr>
          <a:xfrm>
            <a:off x="1371600" y="685800"/>
            <a:ext cx="9497520" cy="5029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106280" y="5943600"/>
            <a:ext cx="1283832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Fuente: Predicting of the Coronavirus Disease 2019 (COVID-19)</a:t>
            </a:r>
            <a:br>
              <a:rPr sz="2000"/>
            </a:b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Epidemic Using Estimation of Parameters in the Logistic Growth Model</a:t>
            </a:r>
            <a:br>
              <a:rPr sz="3400"/>
            </a:br>
            <a:br>
              <a:rPr sz="3400"/>
            </a:br>
            <a:endParaRPr lang="en-US" sz="20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2773440" y="2052000"/>
            <a:ext cx="779616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</a:pP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n 181"/>
          <p:cNvPicPr/>
          <p:nvPr/>
        </p:nvPicPr>
        <p:blipFill>
          <a:blip r:embed="rId3"/>
          <a:stretch/>
        </p:blipFill>
        <p:spPr>
          <a:xfrm>
            <a:off x="1706040" y="343080"/>
            <a:ext cx="8809560" cy="5371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adroTexto 185"/>
          <p:cNvSpPr txBox="1"/>
          <p:nvPr/>
        </p:nvSpPr>
        <p:spPr>
          <a:xfrm>
            <a:off x="2612160" y="80856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algn="r" defTabSz="914400">
              <a:lnSpc>
                <a:spcPct val="90000"/>
              </a:lnSpc>
            </a:pP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7" name="CuadroTexto 186"/>
          <p:cNvSpPr txBox="1"/>
          <p:nvPr/>
        </p:nvSpPr>
        <p:spPr>
          <a:xfrm>
            <a:off x="2612160" y="80856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algn="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Rol del Ingeniero de Datos</a:t>
            </a:r>
          </a:p>
          <a:p>
            <a:pPr algn="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8" name="Marcador de contenido 11"/>
          <p:cNvSpPr txBox="1"/>
          <p:nvPr/>
        </p:nvSpPr>
        <p:spPr>
          <a:xfrm>
            <a:off x="1775160" y="2057760"/>
            <a:ext cx="8512200" cy="3429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El ingeniero de datos desarrolla la infraestructura necesaria para almacenar y procesar la información.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Diseña bases de datos.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Automatizar la actualización de información.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344520" indent="-34452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Garantizar la calidad y disponibilidad de los datos.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/>
          </p:nvPr>
        </p:nvSpPr>
        <p:spPr>
          <a:xfrm>
            <a:off x="2773440" y="2052000"/>
            <a:ext cx="779616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None/>
            </a:pP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n 190"/>
          <p:cNvPicPr/>
          <p:nvPr/>
        </p:nvPicPr>
        <p:blipFill>
          <a:blip r:embed="rId3"/>
          <a:stretch/>
        </p:blipFill>
        <p:spPr>
          <a:xfrm>
            <a:off x="2366303" y="907947"/>
            <a:ext cx="7992282" cy="5042106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2611800" y="808200"/>
            <a:ext cx="7957800" cy="10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es-ES" sz="3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Como conclusiones:</a:t>
            </a:r>
            <a:endParaRPr lang="en-US" sz="3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2773440" y="2052000"/>
            <a:ext cx="7796160" cy="39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344520" indent="-34452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En base a datos recolectados, las autoridades pudieron hacer campañas de concientización, de lavado de manos, de cuido y promover el uso de mascarillas en grupos que no lo hacían. 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344520" indent="-344520" algn="l" defTabSz="914400">
              <a:lnSpc>
                <a:spcPct val="120000"/>
              </a:lnSpc>
              <a:spcBef>
                <a:spcPts val="1001"/>
              </a:spcBef>
              <a:spcAft>
                <a:spcPts val="601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 pudo observar un aumento en la venta de mascarillas en varios establecimientos comerciales en Costa Rica.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344520" indent="-34452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8EC0C1"/>
              </a:buClr>
              <a:buSzPct val="90000"/>
              <a:buFont typeface="Wingdings" charset="2"/>
              <a:buChar char=""/>
            </a:pPr>
            <a:r>
              <a:rPr lang="es-ES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Los indicadores socioeconómicos están correlacionados con las tasas brutas de contagio.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rgbClr val="000000"/>
      </a:dk1>
      <a:lt1>
        <a:srgbClr val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</a:majorFont>
      <a:minorFont>
        <a:latin typeface="Arial" panose="020B06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4000"/>
                <a:lumMod val="92000"/>
              </a:schemeClr>
            </a:gs>
            <a:gs pos="100000">
              <a:schemeClr val="phClr">
                <a:shade val="76000"/>
                <a:lumMod val="88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{82DADD40-188C-4C1E-B841-702D21A7808E}TF37254b02-f5b5-44b0-803d-e6af9466a0244d147964-33a7cc9fa501</Template>
  <TotalTime>198</TotalTime>
  <Words>740</Words>
  <Application>Microsoft Office PowerPoint</Application>
  <PresentationFormat>Panorámica</PresentationFormat>
  <Paragraphs>67</Paragraphs>
  <Slides>15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Nimbus Sans</vt:lpstr>
      <vt:lpstr>Noto Serif CJK KR</vt:lpstr>
      <vt:lpstr>Wingdings</vt:lpstr>
      <vt:lpstr>Wingdings 3</vt:lpstr>
      <vt:lpstr>Madison</vt:lpstr>
      <vt:lpstr>Desabastecimiento de mascarillas en comercios durante la pandemia de COVID-19 </vt:lpstr>
      <vt:lpstr>Problema</vt:lpstr>
      <vt:lpstr>Objetivo general</vt:lpstr>
      <vt:lpstr>Se recolectan los siguientes datos:  </vt:lpstr>
      <vt:lpstr>Presentación de PowerPoint</vt:lpstr>
      <vt:lpstr>Analista de datos</vt:lpstr>
      <vt:lpstr>Ejemplo</vt:lpstr>
      <vt:lpstr>Rol del Científico de Datos </vt:lpstr>
      <vt:lpstr>Fuente: Universidad de Costa Rica</vt:lpstr>
      <vt:lpstr>Fuente: aDiarioCR.com</vt:lpstr>
      <vt:lpstr>Fuente: SCIELO - COVID-19 en Costa Rica: análisis longitudinal de las tasas de contagio y de fallecimiento desde el enfoque de la desigualdad social  </vt:lpstr>
      <vt:lpstr>Fuente: Predicting of the Coronavirus Disease 2019 (COVID-19)  Epidemic Using Estimation of Parameters in the Logistic Growth Model  </vt:lpstr>
      <vt:lpstr>Presentación de PowerPoint</vt:lpstr>
      <vt:lpstr>Presentación de PowerPoint</vt:lpstr>
      <vt:lpstr>Como conclusiones: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Mercy</dc:creator>
  <dc:description/>
  <cp:lastModifiedBy>Mercy</cp:lastModifiedBy>
  <cp:revision>3</cp:revision>
  <dcterms:created xsi:type="dcterms:W3CDTF">2026-07-07T22:53:42Z</dcterms:created>
  <dcterms:modified xsi:type="dcterms:W3CDTF">2026-07-08T16:27:20Z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Panorámica</vt:lpwstr>
  </property>
  <property fmtid="{D5CDD505-2E9C-101B-9397-08002B2CF9AE}" pid="4" name="Slides">
    <vt:i4>6</vt:i4>
  </property>
</Properties>
</file>