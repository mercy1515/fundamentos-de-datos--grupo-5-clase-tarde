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ilita One" charset="1" panose="02000000000000000000"/>
      <p:regular r:id="rId20"/>
    </p:embeddedFont>
    <p:embeddedFont>
      <p:font typeface="Bellaboo" charset="1" panose="00000000000000000000"/>
      <p:regular r:id="rId21"/>
    </p:embeddedFont>
    <p:embeddedFont>
      <p:font typeface="Roboto" charset="1" panose="02000000000000000000"/>
      <p:regular r:id="rId22"/>
    </p:embeddedFont>
    <p:embeddedFont>
      <p:font typeface="Roboto Bol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1963">
            <a:off x="498180" y="-5410861"/>
            <a:ext cx="17736598" cy="19317087"/>
          </a:xfrm>
          <a:custGeom>
            <a:avLst/>
            <a:gdLst/>
            <a:ahLst/>
            <a:cxnLst/>
            <a:rect r="r" b="b" t="t" l="l"/>
            <a:pathLst>
              <a:path h="19317087" w="17736598">
                <a:moveTo>
                  <a:pt x="0" y="0"/>
                </a:moveTo>
                <a:lnTo>
                  <a:pt x="17736599" y="0"/>
                </a:lnTo>
                <a:lnTo>
                  <a:pt x="17736599" y="19317088"/>
                </a:lnTo>
                <a:lnTo>
                  <a:pt x="0" y="19317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031476" y="137070"/>
            <a:ext cx="10225048" cy="10012860"/>
            <a:chOff x="-72390" y="7620"/>
            <a:chExt cx="6487160" cy="6352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836" y="7620"/>
              <a:ext cx="6350053" cy="6352540"/>
            </a:xfrm>
            <a:custGeom>
              <a:avLst/>
              <a:gdLst/>
              <a:ahLst/>
              <a:cxnLst/>
              <a:rect r="r" b="b" t="t" l="l"/>
              <a:pathLst>
                <a:path h="6352540" w="6350053">
                  <a:moveTo>
                    <a:pt x="6253506" y="3176270"/>
                  </a:moveTo>
                  <a:cubicBezTo>
                    <a:pt x="6253506" y="2844800"/>
                    <a:pt x="6418606" y="2493010"/>
                    <a:pt x="6317006" y="2194560"/>
                  </a:cubicBezTo>
                  <a:cubicBezTo>
                    <a:pt x="6212866" y="1884680"/>
                    <a:pt x="5859806" y="1694180"/>
                    <a:pt x="5665496" y="1436370"/>
                  </a:cubicBezTo>
                  <a:cubicBezTo>
                    <a:pt x="5468646" y="1176020"/>
                    <a:pt x="5387366" y="796290"/>
                    <a:pt x="5116856" y="607060"/>
                  </a:cubicBezTo>
                  <a:cubicBezTo>
                    <a:pt x="4848886" y="420370"/>
                    <a:pt x="4448836" y="462280"/>
                    <a:pt x="4127526" y="360680"/>
                  </a:cubicBezTo>
                  <a:cubicBezTo>
                    <a:pt x="3816376" y="264160"/>
                    <a:pt x="3520466" y="0"/>
                    <a:pt x="3176296" y="0"/>
                  </a:cubicBezTo>
                  <a:cubicBezTo>
                    <a:pt x="2832126" y="0"/>
                    <a:pt x="2534946" y="262890"/>
                    <a:pt x="2225066" y="360680"/>
                  </a:cubicBezTo>
                  <a:cubicBezTo>
                    <a:pt x="1903756" y="461010"/>
                    <a:pt x="1502436" y="419100"/>
                    <a:pt x="1234466" y="607060"/>
                  </a:cubicBezTo>
                  <a:cubicBezTo>
                    <a:pt x="963956" y="796290"/>
                    <a:pt x="882676" y="1176020"/>
                    <a:pt x="685826" y="1436370"/>
                  </a:cubicBezTo>
                  <a:cubicBezTo>
                    <a:pt x="490246" y="1694180"/>
                    <a:pt x="138456" y="1884680"/>
                    <a:pt x="33046" y="2194560"/>
                  </a:cubicBezTo>
                  <a:cubicBezTo>
                    <a:pt x="-67284" y="2493010"/>
                    <a:pt x="96546" y="2844800"/>
                    <a:pt x="96546" y="3176270"/>
                  </a:cubicBezTo>
                  <a:cubicBezTo>
                    <a:pt x="96546" y="3507740"/>
                    <a:pt x="-68554" y="3859530"/>
                    <a:pt x="33046" y="4157980"/>
                  </a:cubicBezTo>
                  <a:cubicBezTo>
                    <a:pt x="137186" y="4467860"/>
                    <a:pt x="490246" y="4658360"/>
                    <a:pt x="684556" y="4916170"/>
                  </a:cubicBezTo>
                  <a:cubicBezTo>
                    <a:pt x="881406" y="5176520"/>
                    <a:pt x="962686" y="5556250"/>
                    <a:pt x="1233196" y="5745480"/>
                  </a:cubicBezTo>
                  <a:cubicBezTo>
                    <a:pt x="1501166" y="5933440"/>
                    <a:pt x="1901216" y="5891530"/>
                    <a:pt x="2223796" y="5991860"/>
                  </a:cubicBezTo>
                  <a:cubicBezTo>
                    <a:pt x="2534946" y="6088380"/>
                    <a:pt x="2830856" y="6352540"/>
                    <a:pt x="3175026" y="6352540"/>
                  </a:cubicBezTo>
                  <a:cubicBezTo>
                    <a:pt x="3519196" y="6352540"/>
                    <a:pt x="3816376" y="6089650"/>
                    <a:pt x="4126256" y="5991860"/>
                  </a:cubicBezTo>
                  <a:cubicBezTo>
                    <a:pt x="4447566" y="5891530"/>
                    <a:pt x="4848886" y="5933440"/>
                    <a:pt x="5116856" y="5745480"/>
                  </a:cubicBezTo>
                  <a:cubicBezTo>
                    <a:pt x="5387366" y="5556250"/>
                    <a:pt x="5468646" y="5176520"/>
                    <a:pt x="5665496" y="4916170"/>
                  </a:cubicBezTo>
                  <a:cubicBezTo>
                    <a:pt x="5861076" y="4658360"/>
                    <a:pt x="6212866" y="4467860"/>
                    <a:pt x="6317006" y="4157980"/>
                  </a:cubicBezTo>
                  <a:cubicBezTo>
                    <a:pt x="6418606" y="3858260"/>
                    <a:pt x="6253506" y="3506470"/>
                    <a:pt x="6253506" y="3176270"/>
                  </a:cubicBezTo>
                  <a:close/>
                </a:path>
              </a:pathLst>
            </a:custGeom>
            <a:solidFill>
              <a:srgbClr val="8B5CB4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294530" y="394665"/>
            <a:ext cx="9698940" cy="9497670"/>
            <a:chOff x="-72390" y="7620"/>
            <a:chExt cx="6487160" cy="6352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836" y="7620"/>
              <a:ext cx="6350053" cy="6352540"/>
            </a:xfrm>
            <a:custGeom>
              <a:avLst/>
              <a:gdLst/>
              <a:ahLst/>
              <a:cxnLst/>
              <a:rect r="r" b="b" t="t" l="l"/>
              <a:pathLst>
                <a:path h="6352540" w="6350053">
                  <a:moveTo>
                    <a:pt x="6253506" y="3176270"/>
                  </a:moveTo>
                  <a:cubicBezTo>
                    <a:pt x="6253506" y="2844800"/>
                    <a:pt x="6418606" y="2493010"/>
                    <a:pt x="6317006" y="2194560"/>
                  </a:cubicBezTo>
                  <a:cubicBezTo>
                    <a:pt x="6212866" y="1884680"/>
                    <a:pt x="5859806" y="1694180"/>
                    <a:pt x="5665496" y="1436370"/>
                  </a:cubicBezTo>
                  <a:cubicBezTo>
                    <a:pt x="5468646" y="1176020"/>
                    <a:pt x="5387366" y="796290"/>
                    <a:pt x="5116856" y="607060"/>
                  </a:cubicBezTo>
                  <a:cubicBezTo>
                    <a:pt x="4848886" y="420370"/>
                    <a:pt x="4448836" y="462280"/>
                    <a:pt x="4127526" y="360680"/>
                  </a:cubicBezTo>
                  <a:cubicBezTo>
                    <a:pt x="3816376" y="264160"/>
                    <a:pt x="3520466" y="0"/>
                    <a:pt x="3176296" y="0"/>
                  </a:cubicBezTo>
                  <a:cubicBezTo>
                    <a:pt x="2832126" y="0"/>
                    <a:pt x="2534946" y="262890"/>
                    <a:pt x="2225066" y="360680"/>
                  </a:cubicBezTo>
                  <a:cubicBezTo>
                    <a:pt x="1903756" y="461010"/>
                    <a:pt x="1502436" y="419100"/>
                    <a:pt x="1234466" y="607060"/>
                  </a:cubicBezTo>
                  <a:cubicBezTo>
                    <a:pt x="963956" y="796290"/>
                    <a:pt x="882676" y="1176020"/>
                    <a:pt x="685826" y="1436370"/>
                  </a:cubicBezTo>
                  <a:cubicBezTo>
                    <a:pt x="490246" y="1694180"/>
                    <a:pt x="138456" y="1884680"/>
                    <a:pt x="33046" y="2194560"/>
                  </a:cubicBezTo>
                  <a:cubicBezTo>
                    <a:pt x="-67284" y="2493010"/>
                    <a:pt x="96546" y="2844800"/>
                    <a:pt x="96546" y="3176270"/>
                  </a:cubicBezTo>
                  <a:cubicBezTo>
                    <a:pt x="96546" y="3507740"/>
                    <a:pt x="-68554" y="3859530"/>
                    <a:pt x="33046" y="4157980"/>
                  </a:cubicBezTo>
                  <a:cubicBezTo>
                    <a:pt x="137186" y="4467860"/>
                    <a:pt x="490246" y="4658360"/>
                    <a:pt x="684556" y="4916170"/>
                  </a:cubicBezTo>
                  <a:cubicBezTo>
                    <a:pt x="881406" y="5176520"/>
                    <a:pt x="962686" y="5556250"/>
                    <a:pt x="1233196" y="5745480"/>
                  </a:cubicBezTo>
                  <a:cubicBezTo>
                    <a:pt x="1501166" y="5933440"/>
                    <a:pt x="1901216" y="5891530"/>
                    <a:pt x="2223796" y="5991860"/>
                  </a:cubicBezTo>
                  <a:cubicBezTo>
                    <a:pt x="2534946" y="6088380"/>
                    <a:pt x="2830856" y="6352540"/>
                    <a:pt x="3175026" y="6352540"/>
                  </a:cubicBezTo>
                  <a:cubicBezTo>
                    <a:pt x="3519196" y="6352540"/>
                    <a:pt x="3816376" y="6089650"/>
                    <a:pt x="4126256" y="5991860"/>
                  </a:cubicBezTo>
                  <a:cubicBezTo>
                    <a:pt x="4447566" y="5891530"/>
                    <a:pt x="4848886" y="5933440"/>
                    <a:pt x="5116856" y="5745480"/>
                  </a:cubicBezTo>
                  <a:cubicBezTo>
                    <a:pt x="5387366" y="5556250"/>
                    <a:pt x="5468646" y="5176520"/>
                    <a:pt x="5665496" y="4916170"/>
                  </a:cubicBezTo>
                  <a:cubicBezTo>
                    <a:pt x="5861076" y="4658360"/>
                    <a:pt x="6212866" y="4467860"/>
                    <a:pt x="6317006" y="4157980"/>
                  </a:cubicBezTo>
                  <a:cubicBezTo>
                    <a:pt x="6418606" y="3858260"/>
                    <a:pt x="6253506" y="3506470"/>
                    <a:pt x="6253506" y="3176270"/>
                  </a:cubicBezTo>
                  <a:close/>
                </a:path>
              </a:pathLst>
            </a:custGeom>
            <a:solidFill>
              <a:srgbClr val="FEF8F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10800000">
            <a:off x="11660424" y="7647538"/>
            <a:ext cx="2124506" cy="1610762"/>
          </a:xfrm>
          <a:custGeom>
            <a:avLst/>
            <a:gdLst/>
            <a:ahLst/>
            <a:cxnLst/>
            <a:rect r="r" b="b" t="t" l="l"/>
            <a:pathLst>
              <a:path h="1610762" w="2124506">
                <a:moveTo>
                  <a:pt x="0" y="0"/>
                </a:moveTo>
                <a:lnTo>
                  <a:pt x="2124506" y="0"/>
                </a:lnTo>
                <a:lnTo>
                  <a:pt x="2124506" y="1610762"/>
                </a:lnTo>
                <a:lnTo>
                  <a:pt x="0" y="1610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4530" y="1277470"/>
            <a:ext cx="2124506" cy="1610762"/>
          </a:xfrm>
          <a:custGeom>
            <a:avLst/>
            <a:gdLst/>
            <a:ahLst/>
            <a:cxnLst/>
            <a:rect r="r" b="b" t="t" l="l"/>
            <a:pathLst>
              <a:path h="1610762" w="2124506">
                <a:moveTo>
                  <a:pt x="0" y="0"/>
                </a:moveTo>
                <a:lnTo>
                  <a:pt x="2124506" y="0"/>
                </a:lnTo>
                <a:lnTo>
                  <a:pt x="2124506" y="1610762"/>
                </a:lnTo>
                <a:lnTo>
                  <a:pt x="0" y="1610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85751" y="4272903"/>
            <a:ext cx="9199179" cy="337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8"/>
              </a:lnSpc>
            </a:pPr>
            <a:r>
              <a:rPr lang="en-US" sz="9939" spc="9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PARA TUS DASHBOARDS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6132" y="1461617"/>
            <a:ext cx="7578417" cy="200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81"/>
              </a:lnSpc>
            </a:pPr>
            <a:r>
              <a:rPr lang="en-US" sz="11772">
                <a:solidFill>
                  <a:srgbClr val="282158"/>
                </a:solidFill>
                <a:latin typeface="Bellaboo"/>
                <a:ea typeface="Bellaboo"/>
                <a:cs typeface="Bellaboo"/>
                <a:sym typeface="Bellaboo"/>
              </a:rPr>
              <a:t>Presentación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725" y="257693"/>
            <a:ext cx="4961780" cy="23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VERONICA HERNÁNDEZ</a:t>
            </a:r>
          </a:p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HAZEL SALAZAR</a:t>
            </a:r>
          </a:p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MERCEDES VASQUEZ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EFRAIN S ROJAS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2655" y="3474535"/>
            <a:ext cx="9982689" cy="6660241"/>
          </a:xfrm>
          <a:custGeom>
            <a:avLst/>
            <a:gdLst/>
            <a:ahLst/>
            <a:cxnLst/>
            <a:rect r="r" b="b" t="t" l="l"/>
            <a:pathLst>
              <a:path h="6660241" w="9982689">
                <a:moveTo>
                  <a:pt x="0" y="0"/>
                </a:moveTo>
                <a:lnTo>
                  <a:pt x="9982690" y="0"/>
                </a:lnTo>
                <a:lnTo>
                  <a:pt x="9982690" y="6660241"/>
                </a:lnTo>
                <a:lnTo>
                  <a:pt x="0" y="666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16931201" cy="252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USO DEL COLOR EN EL DISEÑO DE DASHBOARDS.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3963" y="2274385"/>
            <a:ext cx="12530617" cy="7048472"/>
          </a:xfrm>
          <a:custGeom>
            <a:avLst/>
            <a:gdLst/>
            <a:ahLst/>
            <a:cxnLst/>
            <a:rect r="r" b="b" t="t" l="l"/>
            <a:pathLst>
              <a:path h="7048472" w="12530617">
                <a:moveTo>
                  <a:pt x="0" y="0"/>
                </a:moveTo>
                <a:lnTo>
                  <a:pt x="12530616" y="0"/>
                </a:lnTo>
                <a:lnTo>
                  <a:pt x="125306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9067820" cy="13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9479" y="2530720"/>
            <a:ext cx="7528023" cy="7528023"/>
          </a:xfrm>
          <a:custGeom>
            <a:avLst/>
            <a:gdLst/>
            <a:ahLst/>
            <a:cxnLst/>
            <a:rect r="r" b="b" t="t" l="l"/>
            <a:pathLst>
              <a:path h="7528023" w="7528023">
                <a:moveTo>
                  <a:pt x="0" y="0"/>
                </a:moveTo>
                <a:lnTo>
                  <a:pt x="7528023" y="0"/>
                </a:lnTo>
                <a:lnTo>
                  <a:pt x="7528023" y="7528023"/>
                </a:lnTo>
                <a:lnTo>
                  <a:pt x="0" y="752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16742696" cy="13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CÁLIDOS Y FRÍOS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D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4742" y="77429"/>
            <a:ext cx="16144608" cy="10132141"/>
          </a:xfrm>
          <a:custGeom>
            <a:avLst/>
            <a:gdLst/>
            <a:ahLst/>
            <a:cxnLst/>
            <a:rect r="r" b="b" t="t" l="l"/>
            <a:pathLst>
              <a:path h="10132141" w="16144608">
                <a:moveTo>
                  <a:pt x="0" y="0"/>
                </a:moveTo>
                <a:lnTo>
                  <a:pt x="16144608" y="0"/>
                </a:lnTo>
                <a:lnTo>
                  <a:pt x="16144608" y="10132142"/>
                </a:lnTo>
                <a:lnTo>
                  <a:pt x="0" y="10132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97" r="0" b="-412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3335756" cy="3752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5756" cy="3752726"/>
            </a:xfrm>
            <a:custGeom>
              <a:avLst/>
              <a:gdLst/>
              <a:ahLst/>
              <a:cxnLst/>
              <a:rect r="r" b="b" t="t" l="l"/>
              <a:pathLst>
                <a:path h="3752726" w="3335756">
                  <a:moveTo>
                    <a:pt x="0" y="0"/>
                  </a:moveTo>
                  <a:lnTo>
                    <a:pt x="3335756" y="0"/>
                  </a:lnTo>
                  <a:lnTo>
                    <a:pt x="3335756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F8DDF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682077" y="1028700"/>
            <a:ext cx="12375338" cy="8229600"/>
          </a:xfrm>
          <a:custGeom>
            <a:avLst/>
            <a:gdLst/>
            <a:ahLst/>
            <a:cxnLst/>
            <a:rect r="r" b="b" t="t" l="l"/>
            <a:pathLst>
              <a:path h="8229600" w="12375338">
                <a:moveTo>
                  <a:pt x="0" y="0"/>
                </a:moveTo>
                <a:lnTo>
                  <a:pt x="12375339" y="0"/>
                </a:lnTo>
                <a:lnTo>
                  <a:pt x="1237533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199" y="1314450"/>
            <a:ext cx="8132878" cy="20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4"/>
              </a:lnSpc>
            </a:pPr>
            <a:r>
              <a:rPr lang="en-US" sz="8946" spc="8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NEUTROS Y SEMÁFORO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5031" y="3848964"/>
            <a:ext cx="6761216" cy="418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312" indent="-355156" lvl="1">
              <a:lnSpc>
                <a:spcPts val="5593"/>
              </a:lnSpc>
              <a:buFont typeface="Arial"/>
              <a:buChar char="•"/>
            </a:pP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Gris</a:t>
            </a: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es y blancos · Fondo · Reducción de ruido visual · Soporte</a:t>
            </a:r>
          </a:p>
          <a:p>
            <a:pPr algn="l" marL="710312" indent="-355156" lvl="1">
              <a:lnSpc>
                <a:spcPts val="5593"/>
              </a:lnSpc>
              <a:buFont typeface="Arial"/>
              <a:buChar char="•"/>
            </a:pP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Verde-amarillo-rojo · Intuitivo · Estado/riesgo · Psicología del color · Urgencia (rojo)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D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432103" y="841155"/>
            <a:ext cx="5084645" cy="8604690"/>
            <a:chOff x="0" y="0"/>
            <a:chExt cx="3722370" cy="6299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1441" y="283464"/>
              <a:ext cx="3056406" cy="5728208"/>
            </a:xfrm>
            <a:custGeom>
              <a:avLst/>
              <a:gdLst/>
              <a:ahLst/>
              <a:cxnLst/>
              <a:rect r="r" b="b" t="t" l="l"/>
              <a:pathLst>
                <a:path h="5728208" w="3056406">
                  <a:moveTo>
                    <a:pt x="0" y="0"/>
                  </a:moveTo>
                  <a:lnTo>
                    <a:pt x="3056406" y="0"/>
                  </a:lnTo>
                  <a:lnTo>
                    <a:pt x="3056406" y="5728208"/>
                  </a:lnTo>
                  <a:lnTo>
                    <a:pt x="0" y="5728208"/>
                  </a:lnTo>
                  <a:close/>
                </a:path>
              </a:pathLst>
            </a:custGeom>
            <a:blipFill>
              <a:blip r:embed="rId2"/>
              <a:stretch>
                <a:fillRect l="-90914" t="0" r="-9091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22370" cy="6299327"/>
            </a:xfrm>
            <a:custGeom>
              <a:avLst/>
              <a:gdLst/>
              <a:ahLst/>
              <a:cxnLst/>
              <a:rect r="r" b="b" t="t" l="l"/>
              <a:pathLst>
                <a:path h="6299327" w="3722370">
                  <a:moveTo>
                    <a:pt x="0" y="0"/>
                  </a:moveTo>
                  <a:lnTo>
                    <a:pt x="3722370" y="0"/>
                  </a:lnTo>
                  <a:lnTo>
                    <a:pt x="3722370" y="6299327"/>
                  </a:lnTo>
                  <a:lnTo>
                    <a:pt x="0" y="6299327"/>
                  </a:lnTo>
                  <a:close/>
                </a:path>
              </a:pathLst>
            </a:custGeom>
            <a:blipFill>
              <a:blip r:embed="rId3"/>
              <a:stretch>
                <a:fillRect l="-28" t="0" r="-28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98055" y="805974"/>
            <a:ext cx="10086818" cy="233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5"/>
              </a:lnSpc>
            </a:pPr>
            <a:r>
              <a:rPr lang="en-US" sz="10169" spc="10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PALETAS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14766" y="3284175"/>
            <a:ext cx="6853395" cy="40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ate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gó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ricas</a:t>
            </a:r>
          </a:p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Secuenciales</a:t>
            </a:r>
          </a:p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Divergentes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516" y="3330095"/>
            <a:ext cx="6245578" cy="6037392"/>
          </a:xfrm>
          <a:custGeom>
            <a:avLst/>
            <a:gdLst/>
            <a:ahLst/>
            <a:cxnLst/>
            <a:rect r="r" b="b" t="t" l="l"/>
            <a:pathLst>
              <a:path h="6037392" w="6245578">
                <a:moveTo>
                  <a:pt x="0" y="0"/>
                </a:moveTo>
                <a:lnTo>
                  <a:pt x="6245579" y="0"/>
                </a:lnTo>
                <a:lnTo>
                  <a:pt x="6245579" y="6037393"/>
                </a:lnTo>
                <a:lnTo>
                  <a:pt x="0" y="6037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9333" y="3330095"/>
            <a:ext cx="9899967" cy="6037392"/>
          </a:xfrm>
          <a:custGeom>
            <a:avLst/>
            <a:gdLst/>
            <a:ahLst/>
            <a:cxnLst/>
            <a:rect r="r" b="b" t="t" l="l"/>
            <a:pathLst>
              <a:path h="6037392" w="9899967">
                <a:moveTo>
                  <a:pt x="0" y="0"/>
                </a:moveTo>
                <a:lnTo>
                  <a:pt x="9899967" y="0"/>
                </a:lnTo>
                <a:lnTo>
                  <a:pt x="9899967" y="6037393"/>
                </a:lnTo>
                <a:lnTo>
                  <a:pt x="0" y="6037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3" t="0" r="-318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82301" y="559240"/>
            <a:ext cx="18570301" cy="239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7"/>
              </a:lnSpc>
            </a:pPr>
            <a:r>
              <a:rPr lang="en-US" sz="10543" spc="10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EL COLOR COMO UN FENÓMENO FÍSICO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9686" y="2926818"/>
            <a:ext cx="11108628" cy="6609634"/>
          </a:xfrm>
          <a:custGeom>
            <a:avLst/>
            <a:gdLst/>
            <a:ahLst/>
            <a:cxnLst/>
            <a:rect r="r" b="b" t="t" l="l"/>
            <a:pathLst>
              <a:path h="6609634" w="11108628">
                <a:moveTo>
                  <a:pt x="0" y="0"/>
                </a:moveTo>
                <a:lnTo>
                  <a:pt x="11108628" y="0"/>
                </a:lnTo>
                <a:lnTo>
                  <a:pt x="11108628" y="6609634"/>
                </a:lnTo>
                <a:lnTo>
                  <a:pt x="0" y="6609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0200" y="286760"/>
            <a:ext cx="14067601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6">
                <a:solidFill>
                  <a:srgbClr val="8B5CB4"/>
                </a:solidFill>
                <a:latin typeface="Lilita One"/>
                <a:ea typeface="Lilita One"/>
                <a:cs typeface="Lilita One"/>
                <a:sym typeface="Lilita One"/>
              </a:rPr>
              <a:t>¿POR QUÉ LA LUZ BLANCA SE CONVIERTE EN COLORES AL ATRAVESAR UN PRISMA?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981" y="2300661"/>
            <a:ext cx="16812038" cy="6957639"/>
          </a:xfrm>
          <a:custGeom>
            <a:avLst/>
            <a:gdLst/>
            <a:ahLst/>
            <a:cxnLst/>
            <a:rect r="r" b="b" t="t" l="l"/>
            <a:pathLst>
              <a:path h="6957639" w="16812038">
                <a:moveTo>
                  <a:pt x="0" y="0"/>
                </a:moveTo>
                <a:lnTo>
                  <a:pt x="16812038" y="0"/>
                </a:lnTo>
                <a:lnTo>
                  <a:pt x="16812038" y="6957639"/>
                </a:lnTo>
                <a:lnTo>
                  <a:pt x="0" y="6957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39124" y="410585"/>
            <a:ext cx="2138758" cy="1457808"/>
          </a:xfrm>
          <a:custGeom>
            <a:avLst/>
            <a:gdLst/>
            <a:ahLst/>
            <a:cxnLst/>
            <a:rect r="r" b="b" t="t" l="l"/>
            <a:pathLst>
              <a:path h="1457808" w="2138758">
                <a:moveTo>
                  <a:pt x="0" y="0"/>
                </a:moveTo>
                <a:lnTo>
                  <a:pt x="2138757" y="0"/>
                </a:lnTo>
                <a:lnTo>
                  <a:pt x="2138757" y="1457808"/>
                </a:lnTo>
                <a:lnTo>
                  <a:pt x="0" y="1457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0169" y="286996"/>
            <a:ext cx="5877575" cy="153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8999" spc="8">
                <a:solidFill>
                  <a:srgbClr val="8B5CB4"/>
                </a:solidFill>
                <a:latin typeface="Lilita One"/>
                <a:ea typeface="Lilita One"/>
                <a:cs typeface="Lilita One"/>
                <a:sym typeface="Lilita One"/>
              </a:rPr>
              <a:t>¿EL OJO?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271" y="2434895"/>
            <a:ext cx="9218653" cy="5185492"/>
          </a:xfrm>
          <a:custGeom>
            <a:avLst/>
            <a:gdLst/>
            <a:ahLst/>
            <a:cxnLst/>
            <a:rect r="r" b="b" t="t" l="l"/>
            <a:pathLst>
              <a:path h="5185492" w="9218653">
                <a:moveTo>
                  <a:pt x="0" y="0"/>
                </a:moveTo>
                <a:lnTo>
                  <a:pt x="9218653" y="0"/>
                </a:lnTo>
                <a:lnTo>
                  <a:pt x="9218653" y="5185492"/>
                </a:lnTo>
                <a:lnTo>
                  <a:pt x="0" y="5185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45059" y="2263445"/>
            <a:ext cx="6114241" cy="560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12"/>
              </a:lnSpc>
              <a:spcBef>
                <a:spcPct val="0"/>
              </a:spcBef>
            </a:pPr>
            <a:r>
              <a:rPr lang="en-US" sz="330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Este fenómeno mundial de internet </a:t>
            </a:r>
            <a:r>
              <a:rPr lang="en-US" b="true" sz="330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#TheDress,</a:t>
            </a:r>
            <a:r>
              <a:rPr lang="en-US" sz="330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 volvió viral en febrero de 2015 cuando una fotografía de baja calidad dividió a la humanidad entre quienes lo veían azul y negro y quienes lo veían blanco y dorado.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0200" y="239135"/>
            <a:ext cx="14067601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8">
                <a:solidFill>
                  <a:srgbClr val="E78FCD"/>
                </a:solidFill>
                <a:latin typeface="Lilita One"/>
                <a:ea typeface="Lilita One"/>
                <a:cs typeface="Lilita One"/>
                <a:sym typeface="Lilita One"/>
              </a:rPr>
              <a:t>¿Y LA ILUMINACIÓN?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52473"/>
            <a:ext cx="16403016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 spc="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Metamerismo: </a:t>
            </a:r>
            <a:r>
              <a:rPr lang="en-US" sz="3300" spc="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fenómeno óptico en el que dos muestras de color parecen idénticas bajo una fuente de luz específica, pero se ven completamente diferentes cuando cambia la iluminación.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D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792496"/>
            <a:ext cx="16412956" cy="3863284"/>
          </a:xfrm>
          <a:custGeom>
            <a:avLst/>
            <a:gdLst/>
            <a:ahLst/>
            <a:cxnLst/>
            <a:rect r="r" b="b" t="t" l="l"/>
            <a:pathLst>
              <a:path h="3863284" w="16412956">
                <a:moveTo>
                  <a:pt x="0" y="0"/>
                </a:moveTo>
                <a:lnTo>
                  <a:pt x="16412956" y="0"/>
                </a:lnTo>
                <a:lnTo>
                  <a:pt x="16412956" y="3863284"/>
                </a:lnTo>
                <a:lnTo>
                  <a:pt x="0" y="3863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265" y="847725"/>
            <a:ext cx="16486656" cy="297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 spc="8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Y finalmente llegamos al verdadero protagonista: el cerebro.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217" y="7662517"/>
            <a:ext cx="1623060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Por eso el color es un ejemplo extraordinario para análisis de datos: una fuente emite luz, la materia modifica ese espectro, unos sensores biológicos lo detectan y el cerebro interpreta los datos.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430492" y="304615"/>
            <a:ext cx="14271437" cy="3061104"/>
          </a:xfrm>
          <a:custGeom>
            <a:avLst/>
            <a:gdLst/>
            <a:ahLst/>
            <a:cxnLst/>
            <a:rect r="r" b="b" t="t" l="l"/>
            <a:pathLst>
              <a:path h="3061104" w="14271437">
                <a:moveTo>
                  <a:pt x="0" y="0"/>
                </a:moveTo>
                <a:lnTo>
                  <a:pt x="14271436" y="0"/>
                </a:lnTo>
                <a:lnTo>
                  <a:pt x="14271436" y="3061104"/>
                </a:lnTo>
                <a:lnTo>
                  <a:pt x="0" y="3061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9" r="0" b="-1343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5029" y="3968976"/>
            <a:ext cx="14866899" cy="3245866"/>
          </a:xfrm>
          <a:custGeom>
            <a:avLst/>
            <a:gdLst/>
            <a:ahLst/>
            <a:cxnLst/>
            <a:rect r="r" b="b" t="t" l="l"/>
            <a:pathLst>
              <a:path h="3245866" w="14866899">
                <a:moveTo>
                  <a:pt x="0" y="0"/>
                </a:moveTo>
                <a:lnTo>
                  <a:pt x="14866899" y="0"/>
                </a:lnTo>
                <a:lnTo>
                  <a:pt x="14866899" y="3245866"/>
                </a:lnTo>
                <a:lnTo>
                  <a:pt x="0" y="3245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4" t="-755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0492" y="222877"/>
            <a:ext cx="14176345" cy="297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 spc="8">
                <a:solidFill>
                  <a:srgbClr val="3E969E"/>
                </a:solidFill>
                <a:latin typeface="Lilita One"/>
                <a:ea typeface="Lilita One"/>
                <a:cs typeface="Lilita One"/>
                <a:sym typeface="Lilita One"/>
              </a:rPr>
              <a:t>EL MENSAJE QUE QUISIERA QUE RECUERDEN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7841" y="1028700"/>
            <a:ext cx="6871716" cy="8229600"/>
          </a:xfrm>
          <a:custGeom>
            <a:avLst/>
            <a:gdLst/>
            <a:ahLst/>
            <a:cxnLst/>
            <a:rect r="r" b="b" t="t" l="l"/>
            <a:pathLst>
              <a:path h="8229600" w="6871716">
                <a:moveTo>
                  <a:pt x="0" y="0"/>
                </a:moveTo>
                <a:lnTo>
                  <a:pt x="6871716" y="0"/>
                </a:lnTo>
                <a:lnTo>
                  <a:pt x="68717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167" y="2122765"/>
            <a:ext cx="10414537" cy="281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5"/>
              </a:lnSpc>
            </a:pPr>
            <a:r>
              <a:rPr lang="en-US" sz="12215" spc="12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CONCLUSIÓN</a:t>
            </a:r>
          </a:p>
          <a:p>
            <a:pPr algn="ctr">
              <a:lnSpc>
                <a:spcPts val="1050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50271" y="4426624"/>
            <a:ext cx="8672329" cy="344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4"/>
              </a:lnSpc>
            </a:pP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"El color en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 un dashboard no decora: comunica. Elegir bien l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a paleta (según el dato, el contexto y el efecto psicológico buscado) es lo qu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e convierte números en decisiones claras."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DAHTPMr6l9M</dc:identifier>
  <dcterms:modified xsi:type="dcterms:W3CDTF">2011-08-01T06:04:30Z</dcterms:modified>
  <cp:revision>1</cp:revision>
  <dc:title>COLORES PARA TUS dASHBOARDS</dc:title>
</cp:coreProperties>
</file>